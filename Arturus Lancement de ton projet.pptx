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0167" autoAdjust="0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6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6014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11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soft-tuck-23b.notion.site/3180c797761f80d58c32daa336694b74" TargetMode="Externa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4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876" y="1084560"/>
            <a:ext cx="3179564" cy="2955619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669280" cy="5143500"/>
          </a:xfrm>
          <a:prstGeom prst="rect">
            <a:avLst/>
          </a:prstGeom>
          <a:solidFill>
            <a:srgbClr val="2A24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Shape 1"/>
          <p:cNvSpPr/>
          <p:nvPr/>
        </p:nvSpPr>
        <p:spPr>
          <a:xfrm>
            <a:off x="4572000" y="0"/>
            <a:ext cx="1371600" cy="5143500"/>
          </a:xfrm>
          <a:prstGeom prst="rect">
            <a:avLst/>
          </a:prstGeom>
          <a:solidFill>
            <a:srgbClr val="2A24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Shape 2"/>
          <p:cNvSpPr/>
          <p:nvPr/>
        </p:nvSpPr>
        <p:spPr>
          <a:xfrm>
            <a:off x="0" y="0"/>
            <a:ext cx="5303520" cy="274320"/>
          </a:xfrm>
          <a:prstGeom prst="rect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274320" y="45720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D'ENTREPRISE  ·  GUIDE &amp; OFFRE DE LANCEMENT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20040" y="457200"/>
            <a:ext cx="5029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as la vision.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protège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tout ce que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vas bâtir.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320040" y="3127248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création à la cession —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Arturus est là à chaque étape.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0040" y="3822192"/>
            <a:ext cx="4114800" cy="36576"/>
          </a:xfrm>
          <a:prstGeom prst="rect">
            <a:avLst/>
          </a:prstGeom>
          <a:solidFill>
            <a:srgbClr val="5752B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320040" y="39319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Caroline Szmukler · Droit des affaires  —  Baptiste Chareyre · Droit immobilier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0040" y="425196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75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arturus-avocats.fr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2A24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CABINET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256032"/>
            <a:ext cx="9144000" cy="512064"/>
          </a:xfrm>
          <a:prstGeom prst="rect">
            <a:avLst/>
          </a:prstGeom>
          <a:solidFill>
            <a:srgbClr val="2A24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274320" y="301752"/>
            <a:ext cx="8595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Oublie les cabinets austères et leurs grands bureaux en verre. On est les gardes du corps de ton projet.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59536"/>
            <a:ext cx="2194560" cy="2926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468880" y="859536"/>
            <a:ext cx="3291840" cy="2926080"/>
          </a:xfrm>
          <a:prstGeom prst="rect">
            <a:avLst/>
          </a:prstGeom>
          <a:solidFill>
            <a:srgbClr val="2A2470"/>
          </a:solidFill>
          <a:ln/>
          <a:effectLst>
            <a:outerShdw blurRad="177800" dist="38100" dir="8100000" algn="bl" rotWithShape="0">
              <a:srgbClr val="3B3591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2468880" y="859536"/>
            <a:ext cx="3291840" cy="64008"/>
          </a:xfrm>
          <a:prstGeom prst="rect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2578608" y="1005840"/>
            <a:ext cx="3072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Caroline Szmukler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578608" y="1353312"/>
            <a:ext cx="30723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75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des affaires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78608" y="1645920"/>
            <a:ext cx="2926080" cy="27432"/>
          </a:xfrm>
          <a:prstGeom prst="rect">
            <a:avLst/>
          </a:prstGeom>
          <a:solidFill>
            <a:srgbClr val="5752B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2578608" y="1737360"/>
            <a:ext cx="30723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· Contrats · PI · RGPD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Levée de fonds · Contentieux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578608" y="2304288"/>
            <a:ext cx="3072384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"Ton interlocutrice unique — de la création jusqu'à la cession. Je connais ton dossier par cœur dès le premier appel."</a:t>
            </a:r>
            <a:endParaRPr lang="en-US" sz="10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859536"/>
            <a:ext cx="2194560" cy="29260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852160" y="3858768"/>
            <a:ext cx="2926080" cy="54864"/>
          </a:xfrm>
          <a:prstGeom prst="rect">
            <a:avLst/>
          </a:prstGeom>
          <a:solidFill>
            <a:srgbClr val="5752B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2"/>
          <p:cNvSpPr/>
          <p:nvPr/>
        </p:nvSpPr>
        <p:spPr>
          <a:xfrm>
            <a:off x="589788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Baptiste Chareyre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897880" y="4224528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immobilier — SCI · Baux · Construction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protège les murs que ton activité génère.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0" y="4718304"/>
            <a:ext cx="9144000" cy="420624"/>
          </a:xfrm>
          <a:prstGeom prst="rect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5"/>
          <p:cNvSpPr/>
          <p:nvPr/>
        </p:nvSpPr>
        <p:spPr>
          <a:xfrm>
            <a:off x="274320" y="475488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Expert-comptable  ·  Conseiller en gestion de patrimoine  ·  Notaire  ·  Banquier  —  Tous les experts dont tu as besoin, coordonnés par Arturus. Un seul point d'entrée.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2A24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 PROFIL</a:t>
            </a:r>
            <a:endParaRPr lang="en-US" sz="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36576"/>
            <a:ext cx="804672" cy="8046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8404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A2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te reconnais ici ?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2743200" cy="1554480"/>
          </a:xfrm>
          <a:prstGeom prst="rect">
            <a:avLst/>
          </a:prstGeom>
          <a:solidFill>
            <a:srgbClr val="E8E7F5"/>
          </a:solidFill>
          <a:ln/>
          <a:effectLst>
            <a:outerShdw blurRad="177800" dist="38100" dir="8100000" algn="bl" rotWithShape="0">
              <a:srgbClr val="3B3591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274320" y="1005840"/>
            <a:ext cx="2743200" cy="54864"/>
          </a:xfrm>
          <a:prstGeom prst="rect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170432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59536" y="1133856"/>
            <a:ext cx="2066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2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as une vision à 5 ans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365760" y="1517904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juste « ouvrir une boîte ». Tu construis quelque chose — et tu veux que la structure juridique serve cette ambition, pas la freiner.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182112" y="1005840"/>
            <a:ext cx="2743200" cy="1554480"/>
          </a:xfrm>
          <a:prstGeom prst="rect">
            <a:avLst/>
          </a:prstGeom>
          <a:solidFill>
            <a:srgbClr val="E8E7F5"/>
          </a:solidFill>
          <a:ln/>
          <a:effectLst>
            <a:outerShdw blurRad="177800" dist="38100" dir="8100000" algn="bl" rotWithShape="0">
              <a:srgbClr val="3B3591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3182112" y="1005840"/>
            <a:ext cx="2743200" cy="54864"/>
          </a:xfrm>
          <a:prstGeom prst="rect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9272" y="1170432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67328" y="1133856"/>
            <a:ext cx="2066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2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as étudié ton marché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3273552" y="1517904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connais tes concurrents, ton CA cible, ta marge. Tu veux maintenant des bases juridiques solides pour concrétiser ce que tu as planifié.</a:t>
            </a:r>
            <a:endParaRPr lang="en-US" sz="900" dirty="0"/>
          </a:p>
        </p:txBody>
      </p:sp>
      <p:sp>
        <p:nvSpPr>
          <p:cNvPr id="16" name="Shape 11"/>
          <p:cNvSpPr/>
          <p:nvPr/>
        </p:nvSpPr>
        <p:spPr>
          <a:xfrm>
            <a:off x="6089904" y="1005840"/>
            <a:ext cx="2743200" cy="1554480"/>
          </a:xfrm>
          <a:prstGeom prst="rect">
            <a:avLst/>
          </a:prstGeom>
          <a:solidFill>
            <a:srgbClr val="E8E7F5"/>
          </a:solidFill>
          <a:ln/>
          <a:effectLst>
            <a:outerShdw blurRad="177800" dist="38100" dir="8100000" algn="bl" rotWithShape="0">
              <a:srgbClr val="3B3591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2"/>
          <p:cNvSpPr/>
          <p:nvPr/>
        </p:nvSpPr>
        <p:spPr>
          <a:xfrm>
            <a:off x="6089904" y="1005840"/>
            <a:ext cx="2743200" cy="54864"/>
          </a:xfrm>
          <a:prstGeom prst="rect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27064" y="1170432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75120" y="1133856"/>
            <a:ext cx="2066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2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as (ou vas avoir) des associés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6181344" y="1517904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sais qu'un accord verbal ne vaut rien. Tu veux des règles du jeu claires — avant le premier désaccord, pas après.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274320" y="2697480"/>
            <a:ext cx="2743200" cy="1554480"/>
          </a:xfrm>
          <a:prstGeom prst="rect">
            <a:avLst/>
          </a:prstGeom>
          <a:solidFill>
            <a:srgbClr val="E8E7F5"/>
          </a:solidFill>
          <a:ln/>
          <a:effectLst>
            <a:outerShdw blurRad="177800" dist="38100" dir="8100000" algn="bl" rotWithShape="0">
              <a:srgbClr val="3B3591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6"/>
          <p:cNvSpPr/>
          <p:nvPr/>
        </p:nvSpPr>
        <p:spPr>
          <a:xfrm>
            <a:off x="274320" y="2697480"/>
            <a:ext cx="2743200" cy="54864"/>
          </a:xfrm>
          <a:prstGeom prst="rect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2862072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59536" y="2825496"/>
            <a:ext cx="2066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2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veux protéger ce que tu bâtis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365760" y="3209544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Marque, savoir-faire, base clients : tu as compris que tes actifs immatériels ont plus de valeur que ton matériel. Et que les protéger, c'est maintenant.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3182112" y="2697480"/>
            <a:ext cx="2743200" cy="1554480"/>
          </a:xfrm>
          <a:prstGeom prst="rect">
            <a:avLst/>
          </a:prstGeom>
          <a:solidFill>
            <a:srgbClr val="E8E7F5"/>
          </a:solidFill>
          <a:ln/>
          <a:effectLst>
            <a:outerShdw blurRad="177800" dist="38100" dir="8100000" algn="bl" rotWithShape="0">
              <a:srgbClr val="3B3591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0"/>
          <p:cNvSpPr/>
          <p:nvPr/>
        </p:nvSpPr>
        <p:spPr>
          <a:xfrm>
            <a:off x="3182112" y="2697480"/>
            <a:ext cx="2743200" cy="54864"/>
          </a:xfrm>
          <a:prstGeom prst="rect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19272" y="2862072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767328" y="2825496"/>
            <a:ext cx="2066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2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penses déjà à ton patrimoine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3273552" y="3209544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sais que ton entreprise est ton moteur et ton patrimoine perso ton coffre-fort. Ils doivent être séparés — dès le jour 1.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6089904" y="2697480"/>
            <a:ext cx="2743200" cy="1554480"/>
          </a:xfrm>
          <a:prstGeom prst="rect">
            <a:avLst/>
          </a:prstGeom>
          <a:solidFill>
            <a:srgbClr val="E8E7F5"/>
          </a:solidFill>
          <a:ln/>
          <a:effectLst>
            <a:outerShdw blurRad="177800" dist="38100" dir="8100000" algn="bl" rotWithShape="0">
              <a:srgbClr val="3B3591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24"/>
          <p:cNvSpPr/>
          <p:nvPr/>
        </p:nvSpPr>
        <p:spPr>
          <a:xfrm>
            <a:off x="6089904" y="2697480"/>
            <a:ext cx="2743200" cy="54864"/>
          </a:xfrm>
          <a:prstGeom prst="rect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7064" y="2862072"/>
            <a:ext cx="347472" cy="34747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675120" y="2825496"/>
            <a:ext cx="206654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A2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envisages de lever ou de céder un jour</a:t>
            </a:r>
            <a:endParaRPr lang="en-US" sz="1000" dirty="0"/>
          </a:p>
        </p:txBody>
      </p:sp>
      <p:sp>
        <p:nvSpPr>
          <p:cNvPr id="35" name="Text 26"/>
          <p:cNvSpPr/>
          <p:nvPr/>
        </p:nvSpPr>
        <p:spPr>
          <a:xfrm>
            <a:off x="6181344" y="3209544"/>
            <a:ext cx="2578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veux une structure qui peut accueillir un investisseur sans tout refaire — et qui renforce ta valorisation le jour de la vente.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0" y="4974336"/>
            <a:ext cx="9144000" cy="173736"/>
          </a:xfrm>
          <a:prstGeom prst="rect">
            <a:avLst/>
          </a:prstGeom>
          <a:solidFill>
            <a:srgbClr val="2A24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28"/>
          <p:cNvSpPr/>
          <p:nvPr/>
        </p:nvSpPr>
        <p:spPr>
          <a:xfrm>
            <a:off x="274320" y="4983480"/>
            <a:ext cx="8595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Arturus Avocats  ·  arturus-avocats.fr  ·  Le Tholonet, Aix-en-Provence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B35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2A24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RISQUES</a:t>
            </a:r>
            <a:endParaRPr lang="en-US" sz="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36576"/>
            <a:ext cx="804672" cy="8046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8404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qui coûte cher quand on n'anticipe pas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2798064" cy="3017520"/>
          </a:xfrm>
          <a:prstGeom prst="rect">
            <a:avLst/>
          </a:prstGeom>
          <a:solidFill>
            <a:srgbClr val="2A2470"/>
          </a:solidFill>
          <a:ln/>
          <a:effectLst>
            <a:outerShdw blurRad="177800" dist="38100" dir="8100000" algn="bl" rotWithShape="0">
              <a:srgbClr val="3B3591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274320" y="1005840"/>
            <a:ext cx="2798064" cy="34747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365760" y="1005840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La holding créée trop tôt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1426464"/>
            <a:ext cx="2615184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Créée sur conseil d'un ami « pour optimiser ». Activité insuffisante. IS sur société vide, frais annuels, puis dissolution.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65760" y="2944368"/>
            <a:ext cx="2615184" cy="10972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365760" y="2944368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à 5× le prix d'un conseil avocat en amont.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18688" y="1005840"/>
            <a:ext cx="2798064" cy="3017520"/>
          </a:xfrm>
          <a:prstGeom prst="rect">
            <a:avLst/>
          </a:prstGeom>
          <a:solidFill>
            <a:srgbClr val="2A2470"/>
          </a:solidFill>
          <a:ln/>
          <a:effectLst>
            <a:outerShdw blurRad="177800" dist="38100" dir="8100000" algn="bl" rotWithShape="0">
              <a:srgbClr val="3B3591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3218688" y="1005840"/>
            <a:ext cx="2798064" cy="34747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3310128" y="1005840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L'auto-entrepreneur qui grandit sans anticiper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310128" y="1426464"/>
            <a:ext cx="2615184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dépasse le seuil. Le fonds d'activité doit être cédé ou apporté à la nouvelle société — taxation immédiate de la plus-value.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310128" y="2944368"/>
            <a:ext cx="2615184" cy="10972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3310128" y="2944368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 si anticipé 6 mois avant · 10–30 k€ sinon.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163056" y="1005840"/>
            <a:ext cx="2798064" cy="3017520"/>
          </a:xfrm>
          <a:prstGeom prst="rect">
            <a:avLst/>
          </a:prstGeom>
          <a:solidFill>
            <a:srgbClr val="2A2470"/>
          </a:solidFill>
          <a:ln/>
          <a:effectLst>
            <a:outerShdw blurRad="177800" dist="38100" dir="8100000" algn="bl" rotWithShape="0">
              <a:srgbClr val="3B3591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6163056" y="1005840"/>
            <a:ext cx="2798064" cy="34747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6254496" y="1005840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Les associés sans pacte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254496" y="1426464"/>
            <a:ext cx="2615184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Désaccord stratégique après 18 mois. Blocage en AG. Mandataire ad hoc, 8 mois de procédure, frais des deux côtés.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254496" y="2944368"/>
            <a:ext cx="2615184" cy="109728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6254496" y="2944368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Résolution en 3 semaines avec un pacte. 8 mois sans.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74320" y="4114800"/>
            <a:ext cx="4160520" cy="713232"/>
          </a:xfrm>
          <a:prstGeom prst="rect">
            <a:avLst/>
          </a:prstGeom>
          <a:solidFill>
            <a:srgbClr val="2A24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2"/>
          <p:cNvSpPr/>
          <p:nvPr/>
        </p:nvSpPr>
        <p:spPr>
          <a:xfrm>
            <a:off x="274320" y="4114800"/>
            <a:ext cx="54864" cy="7132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402336" y="415137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Actifs non protégés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02336" y="44074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non déposée, savoir-faire accessible, base clients sans NDA : à la cession, tes actifs ne valent rien </a:t>
            </a:r>
            <a:r>
              <a:rPr lang="en-US" sz="850" dirty="0" err="1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juridiquement</a:t>
            </a:r>
            <a:r>
              <a:rPr lang="en-US" sz="850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709160" y="4114800"/>
            <a:ext cx="4160520" cy="713232"/>
          </a:xfrm>
          <a:prstGeom prst="rect">
            <a:avLst/>
          </a:prstGeom>
          <a:solidFill>
            <a:srgbClr val="2A24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6"/>
          <p:cNvSpPr/>
          <p:nvPr/>
        </p:nvSpPr>
        <p:spPr>
          <a:xfrm>
            <a:off x="4709160" y="4114800"/>
            <a:ext cx="54864" cy="713232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7"/>
          <p:cNvSpPr/>
          <p:nvPr/>
        </p:nvSpPr>
        <p:spPr>
          <a:xfrm>
            <a:off x="4837176" y="4151376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Frontière pro/perso inexistante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837176" y="44074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litige commercial peut atteindre ta résidence principale si la séparation patrimoine n'est pas posée dès le départ.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0" y="4974336"/>
            <a:ext cx="9144000" cy="173736"/>
          </a:xfrm>
          <a:prstGeom prst="rect">
            <a:avLst/>
          </a:prstGeom>
          <a:solidFill>
            <a:srgbClr val="2A24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274320" y="4983480"/>
            <a:ext cx="8595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Arturus Avocats  ·  arturus-avocats.fr  ·  Le Tholonet, Aix-en-Provence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24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2A24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PILIERS · 0 ANGLE MORT</a:t>
            </a:r>
            <a:endParaRPr lang="en-US" sz="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36576"/>
            <a:ext cx="804672" cy="8046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8404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protège ton royaume — en entier.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74320" y="8869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+ Perso + Immo. Pas de silo. Pas d'angle mort.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28600" y="1298448"/>
            <a:ext cx="2798064" cy="3611880"/>
          </a:xfrm>
          <a:prstGeom prst="rect">
            <a:avLst/>
          </a:prstGeom>
          <a:solidFill>
            <a:srgbClr val="3B3591"/>
          </a:solidFill>
          <a:ln/>
          <a:effectLst>
            <a:outerShdw blurRad="177800" dist="38100" dir="8100000" algn="bl" rotWithShape="0">
              <a:srgbClr val="3B3591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228600" y="1298448"/>
            <a:ext cx="2798064" cy="64008"/>
          </a:xfrm>
          <a:prstGeom prst="rect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320040" y="1417320"/>
            <a:ext cx="457200" cy="201168"/>
          </a:xfrm>
          <a:prstGeom prst="rect">
            <a:avLst/>
          </a:prstGeom>
          <a:solidFill>
            <a:srgbClr val="2A24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320040" y="1417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20040" y="1664208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PROPRIÉTÉ COMMERCIALE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20040" y="2029968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blinde ton moteur.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0040" y="2304288"/>
            <a:ext cx="2542032" cy="27432"/>
          </a:xfrm>
          <a:prstGeom prst="rect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320040" y="2377440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50" dirty="0">
                <a:solidFill>
                  <a:srgbClr val="E8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la structure à 5 ans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20040" y="2779776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50" dirty="0">
                <a:solidFill>
                  <a:srgbClr val="E8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Statuts sur mesure + formalités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20040" y="3182112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50" dirty="0">
                <a:solidFill>
                  <a:srgbClr val="E8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Contrats, CGV, PI, RGPD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320040" y="3584448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50" dirty="0">
                <a:solidFill>
                  <a:srgbClr val="E8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Pacte d'associés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20040" y="3986784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50" dirty="0">
                <a:solidFill>
                  <a:srgbClr val="E8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Levée de fonds · Cession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172968" y="1298448"/>
            <a:ext cx="2798064" cy="3611880"/>
          </a:xfrm>
          <a:prstGeom prst="rect">
            <a:avLst/>
          </a:prstGeom>
          <a:solidFill>
            <a:srgbClr val="3B3591"/>
          </a:solidFill>
          <a:ln/>
          <a:effectLst>
            <a:outerShdw blurRad="177800" dist="38100" dir="8100000" algn="bl" rotWithShape="0">
              <a:srgbClr val="3B3591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3172968" y="1298448"/>
            <a:ext cx="2798064" cy="64008"/>
          </a:xfrm>
          <a:prstGeom prst="rect">
            <a:avLst/>
          </a:prstGeom>
          <a:solidFill>
            <a:srgbClr val="5752B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8"/>
          <p:cNvSpPr/>
          <p:nvPr/>
        </p:nvSpPr>
        <p:spPr>
          <a:xfrm>
            <a:off x="3264408" y="1417320"/>
            <a:ext cx="457200" cy="201168"/>
          </a:xfrm>
          <a:prstGeom prst="rect">
            <a:avLst/>
          </a:prstGeom>
          <a:solidFill>
            <a:srgbClr val="2A24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3264408" y="1417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264408" y="1664208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PROPRIÉTÉ PATRIMONIALE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264408" y="2029968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organise ton coffre-fort.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264408" y="2304288"/>
            <a:ext cx="2542032" cy="27432"/>
          </a:xfrm>
          <a:prstGeom prst="rect">
            <a:avLst/>
          </a:prstGeom>
          <a:solidFill>
            <a:srgbClr val="5752B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3264408" y="2377440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50" dirty="0">
                <a:solidFill>
                  <a:srgbClr val="E8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Frontière pro/perso dès J+0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3264408" y="2779776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50" dirty="0">
                <a:solidFill>
                  <a:srgbClr val="E8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SCI, holding, sociétés patrimoniales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3264408" y="3182112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50" dirty="0">
                <a:solidFill>
                  <a:srgbClr val="E8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expert-comptable + CGP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3264408" y="3584448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50" dirty="0">
                <a:solidFill>
                  <a:srgbClr val="E8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 de la transmission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3264408" y="3986784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50" dirty="0">
                <a:solidFill>
                  <a:srgbClr val="E8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fiscale structurelle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117336" y="1298448"/>
            <a:ext cx="2798064" cy="3611880"/>
          </a:xfrm>
          <a:prstGeom prst="rect">
            <a:avLst/>
          </a:prstGeom>
          <a:solidFill>
            <a:srgbClr val="3B3591"/>
          </a:solidFill>
          <a:ln/>
          <a:effectLst>
            <a:outerShdw blurRad="177800" dist="38100" dir="8100000" algn="bl" rotWithShape="0">
              <a:srgbClr val="3B3591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29"/>
          <p:cNvSpPr/>
          <p:nvPr/>
        </p:nvSpPr>
        <p:spPr>
          <a:xfrm>
            <a:off x="6117336" y="1298448"/>
            <a:ext cx="2798064" cy="64008"/>
          </a:xfrm>
          <a:prstGeom prst="rect">
            <a:avLst/>
          </a:prstGeom>
          <a:solidFill>
            <a:srgbClr val="5752B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Shape 30"/>
          <p:cNvSpPr/>
          <p:nvPr/>
        </p:nvSpPr>
        <p:spPr>
          <a:xfrm>
            <a:off x="6208776" y="1417320"/>
            <a:ext cx="457200" cy="201168"/>
          </a:xfrm>
          <a:prstGeom prst="rect">
            <a:avLst/>
          </a:prstGeom>
          <a:solidFill>
            <a:srgbClr val="2A24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1"/>
          <p:cNvSpPr/>
          <p:nvPr/>
        </p:nvSpPr>
        <p:spPr>
          <a:xfrm>
            <a:off x="6208776" y="141732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6208776" y="1664208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PROPRIÉTÉ IMMOBILIÈRE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208776" y="2029968"/>
            <a:ext cx="26151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défend tes murs.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6208776" y="2304288"/>
            <a:ext cx="2542032" cy="27432"/>
          </a:xfrm>
          <a:prstGeom prst="rect">
            <a:avLst/>
          </a:prstGeom>
          <a:solidFill>
            <a:srgbClr val="5752B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5"/>
          <p:cNvSpPr/>
          <p:nvPr/>
        </p:nvSpPr>
        <p:spPr>
          <a:xfrm>
            <a:off x="6208776" y="2377440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50" dirty="0">
                <a:solidFill>
                  <a:srgbClr val="E8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Baux commerciaux et locaux pro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6208776" y="2779776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50" dirty="0">
                <a:solidFill>
                  <a:srgbClr val="E8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 résidentielle ou commerciale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208776" y="3182112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50" dirty="0">
                <a:solidFill>
                  <a:srgbClr val="E8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&amp; sinistres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6208776" y="3584448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50" dirty="0">
                <a:solidFill>
                  <a:srgbClr val="E8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Investissement locatif structuré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6208776" y="3986784"/>
            <a:ext cx="2615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50" dirty="0">
                <a:solidFill>
                  <a:srgbClr val="E8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échéance surprise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0" y="4974336"/>
            <a:ext cx="9144000" cy="173736"/>
          </a:xfrm>
          <a:prstGeom prst="rect">
            <a:avLst/>
          </a:prstGeom>
          <a:solidFill>
            <a:srgbClr val="2A24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Text 41"/>
          <p:cNvSpPr/>
          <p:nvPr/>
        </p:nvSpPr>
        <p:spPr>
          <a:xfrm>
            <a:off x="274320" y="4983480"/>
            <a:ext cx="8595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Arturus Avocats  ·  arturus-avocats.fr  ·  Le Tholonet, Aix-en-Provence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2A24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ARTURUS</a:t>
            </a:r>
            <a:endParaRPr lang="en-US" sz="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36576"/>
            <a:ext cx="804672" cy="8046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8404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2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Arturus — pas une plateforme, pas un généraliste.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4187952" cy="1115568"/>
          </a:xfrm>
          <a:prstGeom prst="rect">
            <a:avLst/>
          </a:prstGeom>
          <a:solidFill>
            <a:srgbClr val="E8E7F5"/>
          </a:solidFill>
          <a:ln/>
          <a:effectLst>
            <a:outerShdw blurRad="177800" dist="38100" dir="8100000" algn="bl" rotWithShape="0">
              <a:srgbClr val="3B3591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274320" y="1005840"/>
            <a:ext cx="64008" cy="1115568"/>
          </a:xfrm>
          <a:prstGeom prst="rect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624" y="1280160"/>
            <a:ext cx="347472" cy="34747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77824" y="1097280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2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crée ce dont ton projet a besoin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77824" y="1408176"/>
            <a:ext cx="34930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ce que tu demandes. La question n'est pas « quelle forme ? » mais « dans 5 ans, est-ce que cette structure te libère ou te bloque ? »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681728" y="1005840"/>
            <a:ext cx="4187952" cy="1115568"/>
          </a:xfrm>
          <a:prstGeom prst="rect">
            <a:avLst/>
          </a:prstGeom>
          <a:solidFill>
            <a:srgbClr val="E8E7F5"/>
          </a:solidFill>
          <a:ln/>
          <a:effectLst>
            <a:outerShdw blurRad="177800" dist="38100" dir="8100000" algn="bl" rotWithShape="0">
              <a:srgbClr val="3B3591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4681728" y="1005840"/>
            <a:ext cx="64008" cy="1115568"/>
          </a:xfrm>
          <a:prstGeom prst="rect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128016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85232" y="1097280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2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pense à ta cession dès la création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5285232" y="1408176"/>
            <a:ext cx="34930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clause bien rédigée, marque déposée, contrat structuré est un argument de valorisation supplémentaire le jour où tu vends.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274320" y="2240280"/>
            <a:ext cx="4187952" cy="1115568"/>
          </a:xfrm>
          <a:prstGeom prst="rect">
            <a:avLst/>
          </a:prstGeom>
          <a:solidFill>
            <a:srgbClr val="E8E7F5"/>
          </a:solidFill>
          <a:ln/>
          <a:effectLst>
            <a:outerShdw blurRad="177800" dist="38100" dir="8100000" algn="bl" rotWithShape="0">
              <a:srgbClr val="3B3591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2"/>
          <p:cNvSpPr/>
          <p:nvPr/>
        </p:nvSpPr>
        <p:spPr>
          <a:xfrm>
            <a:off x="274320" y="2240280"/>
            <a:ext cx="64008" cy="1115568"/>
          </a:xfrm>
          <a:prstGeom prst="rect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624" y="2514600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77824" y="2331720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2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ET perso — sous le même toit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877824" y="2642616"/>
            <a:ext cx="34930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Caroline sécurise ton moteur. Baptiste protège ton coffre-fort. Un binôme qui voit les deux côtés — sans que tu coordonnes deux avocats.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4681728" y="2240280"/>
            <a:ext cx="4187952" cy="1115568"/>
          </a:xfrm>
          <a:prstGeom prst="rect">
            <a:avLst/>
          </a:prstGeom>
          <a:solidFill>
            <a:srgbClr val="E8E7F5"/>
          </a:solidFill>
          <a:ln/>
          <a:effectLst>
            <a:outerShdw blurRad="177800" dist="38100" dir="8100000" algn="bl" rotWithShape="0">
              <a:srgbClr val="3B3591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6"/>
          <p:cNvSpPr/>
          <p:nvPr/>
        </p:nvSpPr>
        <p:spPr>
          <a:xfrm>
            <a:off x="4681728" y="2240280"/>
            <a:ext cx="64008" cy="1115568"/>
          </a:xfrm>
          <a:prstGeom prst="rect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8032" y="2514600"/>
            <a:ext cx="347472" cy="3474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285232" y="2331720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2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réseau coordonné autour de toi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5285232" y="2642616"/>
            <a:ext cx="34930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Expert-comptable, CGP, notaire, banquier : tous les experts dont tu as besoin, activés par Arturus. Un seul point d'entrée.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274320" y="3474720"/>
            <a:ext cx="4187952" cy="1115568"/>
          </a:xfrm>
          <a:prstGeom prst="rect">
            <a:avLst/>
          </a:prstGeom>
          <a:solidFill>
            <a:srgbClr val="E8E7F5"/>
          </a:solidFill>
          <a:ln/>
          <a:effectLst>
            <a:outerShdw blurRad="177800" dist="38100" dir="8100000" algn="bl" rotWithShape="0">
              <a:srgbClr val="3B3591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0"/>
          <p:cNvSpPr/>
          <p:nvPr/>
        </p:nvSpPr>
        <p:spPr>
          <a:xfrm>
            <a:off x="274320" y="3474720"/>
            <a:ext cx="64008" cy="1115568"/>
          </a:xfrm>
          <a:prstGeom prst="rect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624" y="3749040"/>
            <a:ext cx="347472" cy="34747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77824" y="3566160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2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vu les erreurs que tu n'as pas encore faites</a:t>
            </a:r>
            <a:endParaRPr lang="en-US" sz="1050" dirty="0"/>
          </a:p>
        </p:txBody>
      </p:sp>
      <p:sp>
        <p:nvSpPr>
          <p:cNvPr id="30" name="Text 22"/>
          <p:cNvSpPr/>
          <p:nvPr/>
        </p:nvSpPr>
        <p:spPr>
          <a:xfrm>
            <a:off x="877824" y="3877056"/>
            <a:ext cx="34930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L'AE qui paie une cession imprévue. La holding inutile à 5× son coût de création. On te les évite parce qu'on les a vécues.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4681728" y="3474720"/>
            <a:ext cx="4187952" cy="1115568"/>
          </a:xfrm>
          <a:prstGeom prst="rect">
            <a:avLst/>
          </a:prstGeom>
          <a:solidFill>
            <a:srgbClr val="E8E7F5"/>
          </a:solidFill>
          <a:ln/>
          <a:effectLst>
            <a:outerShdw blurRad="177800" dist="38100" dir="8100000" algn="bl" rotWithShape="0">
              <a:srgbClr val="3B3591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2" name="Shape 24"/>
          <p:cNvSpPr/>
          <p:nvPr/>
        </p:nvSpPr>
        <p:spPr>
          <a:xfrm>
            <a:off x="4681728" y="3474720"/>
            <a:ext cx="64008" cy="1115568"/>
          </a:xfrm>
          <a:prstGeom prst="rect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8032" y="3749040"/>
            <a:ext cx="347472" cy="34747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285232" y="3566160"/>
            <a:ext cx="34930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2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 ET contentieux — même cabinet</a:t>
            </a:r>
            <a:endParaRPr lang="en-US" sz="1050" dirty="0"/>
          </a:p>
        </p:txBody>
      </p:sp>
      <p:sp>
        <p:nvSpPr>
          <p:cNvPr id="35" name="Text 26"/>
          <p:cNvSpPr/>
          <p:nvPr/>
        </p:nvSpPr>
        <p:spPr>
          <a:xfrm>
            <a:off x="5285232" y="3877056"/>
            <a:ext cx="34930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ça dérape avec un associé ou un client, l'avocat qui connaît ta structure est celui qui te défend. Pas besoin de tout réexpliquer.</a:t>
            </a:r>
            <a:endParaRPr lang="en-US" sz="950" dirty="0"/>
          </a:p>
        </p:txBody>
      </p:sp>
      <p:sp>
        <p:nvSpPr>
          <p:cNvPr id="36" name="Shape 27"/>
          <p:cNvSpPr/>
          <p:nvPr/>
        </p:nvSpPr>
        <p:spPr>
          <a:xfrm>
            <a:off x="0" y="4974336"/>
            <a:ext cx="9144000" cy="173736"/>
          </a:xfrm>
          <a:prstGeom prst="rect">
            <a:avLst/>
          </a:prstGeom>
          <a:solidFill>
            <a:srgbClr val="2A24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28"/>
          <p:cNvSpPr/>
          <p:nvPr/>
        </p:nvSpPr>
        <p:spPr>
          <a:xfrm>
            <a:off x="274320" y="4983480"/>
            <a:ext cx="8595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Arturus Avocats  ·  arturus-avocats.fr  ·  Le Tholonet, Aix-en-Provence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2A24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 NOUS ONT FAIT CONFIANCE</a:t>
            </a:r>
            <a:endParaRPr lang="en-US" sz="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36576"/>
            <a:ext cx="804672" cy="8046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84048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2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qu'on construit — et ce qu'on répare.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274320" y="914400"/>
            <a:ext cx="1627632" cy="1874520"/>
          </a:xfrm>
          <a:prstGeom prst="rect">
            <a:avLst/>
          </a:prstGeom>
          <a:solidFill>
            <a:srgbClr val="E8E7F5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274320" y="914400"/>
            <a:ext cx="1627632" cy="54864"/>
          </a:xfrm>
          <a:prstGeom prst="rect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042416"/>
            <a:ext cx="329184" cy="32918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65760" y="1426464"/>
            <a:ext cx="1444752" cy="182880"/>
          </a:xfrm>
          <a:prstGeom prst="rect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6"/>
          <p:cNvSpPr/>
          <p:nvPr/>
        </p:nvSpPr>
        <p:spPr>
          <a:xfrm>
            <a:off x="365760" y="1426464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 D'INTÉRIEUR</a:t>
            </a:r>
            <a:endParaRPr lang="en-US" sz="600" dirty="0"/>
          </a:p>
        </p:txBody>
      </p:sp>
      <p:sp>
        <p:nvSpPr>
          <p:cNvPr id="11" name="Text 7"/>
          <p:cNvSpPr/>
          <p:nvPr/>
        </p:nvSpPr>
        <p:spPr>
          <a:xfrm>
            <a:off x="365760" y="1645920"/>
            <a:ext cx="144475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SASU + PI créations + contrats maîtrise d'œuvre + statuts prévus pour un associé en an 2.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2011680" y="914400"/>
            <a:ext cx="1627632" cy="1874520"/>
          </a:xfrm>
          <a:prstGeom prst="rect">
            <a:avLst/>
          </a:prstGeom>
          <a:solidFill>
            <a:srgbClr val="E8E7F5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9"/>
          <p:cNvSpPr/>
          <p:nvPr/>
        </p:nvSpPr>
        <p:spPr>
          <a:xfrm>
            <a:off x="2011680" y="914400"/>
            <a:ext cx="1627632" cy="54864"/>
          </a:xfrm>
          <a:prstGeom prst="rect">
            <a:avLst/>
          </a:prstGeom>
          <a:solidFill>
            <a:srgbClr val="5752B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8840" y="1042416"/>
            <a:ext cx="329184" cy="329184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103120" y="1426464"/>
            <a:ext cx="1444752" cy="182880"/>
          </a:xfrm>
          <a:prstGeom prst="rect">
            <a:avLst/>
          </a:prstGeom>
          <a:solidFill>
            <a:srgbClr val="5752B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1"/>
          <p:cNvSpPr/>
          <p:nvPr/>
        </p:nvSpPr>
        <p:spPr>
          <a:xfrm>
            <a:off x="2103120" y="1426464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600" dirty="0"/>
          </a:p>
        </p:txBody>
      </p:sp>
      <p:sp>
        <p:nvSpPr>
          <p:cNvPr id="17" name="Text 12"/>
          <p:cNvSpPr/>
          <p:nvPr/>
        </p:nvSpPr>
        <p:spPr>
          <a:xfrm>
            <a:off x="2103120" y="1645920"/>
            <a:ext cx="144475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 + CGV B2C conformes AMF + LCB-FT + RGPD + statuts levée de fonds seed.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3749040" y="914400"/>
            <a:ext cx="1627632" cy="1874520"/>
          </a:xfrm>
          <a:prstGeom prst="rect">
            <a:avLst/>
          </a:prstGeom>
          <a:solidFill>
            <a:srgbClr val="E8E7F5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4"/>
          <p:cNvSpPr/>
          <p:nvPr/>
        </p:nvSpPr>
        <p:spPr>
          <a:xfrm>
            <a:off x="3749040" y="914400"/>
            <a:ext cx="1627632" cy="54864"/>
          </a:xfrm>
          <a:prstGeom prst="rect">
            <a:avLst/>
          </a:prstGeom>
          <a:solidFill>
            <a:srgbClr val="2A247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200" y="1042416"/>
            <a:ext cx="329184" cy="329184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3840480" y="1426464"/>
            <a:ext cx="1444752" cy="182880"/>
          </a:xfrm>
          <a:prstGeom prst="rect">
            <a:avLst/>
          </a:prstGeom>
          <a:solidFill>
            <a:srgbClr val="2A24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6"/>
          <p:cNvSpPr/>
          <p:nvPr/>
        </p:nvSpPr>
        <p:spPr>
          <a:xfrm>
            <a:off x="3840480" y="1426464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US</a:t>
            </a:r>
            <a:endParaRPr lang="en-US" sz="600" dirty="0"/>
          </a:p>
        </p:txBody>
      </p:sp>
      <p:sp>
        <p:nvSpPr>
          <p:cNvPr id="23" name="Text 17"/>
          <p:cNvSpPr/>
          <p:nvPr/>
        </p:nvSpPr>
        <p:spPr>
          <a:xfrm>
            <a:off x="3840480" y="1645920"/>
            <a:ext cx="144475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Filiale française SAS. Convention intragroupe + RGPD transfert hors UE.</a:t>
            </a:r>
            <a:endParaRPr lang="en-US" sz="800" dirty="0"/>
          </a:p>
        </p:txBody>
      </p:sp>
      <p:sp>
        <p:nvSpPr>
          <p:cNvPr id="24" name="Shape 18"/>
          <p:cNvSpPr/>
          <p:nvPr/>
        </p:nvSpPr>
        <p:spPr>
          <a:xfrm>
            <a:off x="5486400" y="914400"/>
            <a:ext cx="1627632" cy="1874520"/>
          </a:xfrm>
          <a:prstGeom prst="rect">
            <a:avLst/>
          </a:prstGeom>
          <a:solidFill>
            <a:srgbClr val="E8E7F5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19"/>
          <p:cNvSpPr/>
          <p:nvPr/>
        </p:nvSpPr>
        <p:spPr>
          <a:xfrm>
            <a:off x="5486400" y="914400"/>
            <a:ext cx="1627632" cy="54864"/>
          </a:xfrm>
          <a:prstGeom prst="rect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3560" y="1042416"/>
            <a:ext cx="329184" cy="329184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5577840" y="1426464"/>
            <a:ext cx="1444752" cy="182880"/>
          </a:xfrm>
          <a:prstGeom prst="rect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1"/>
          <p:cNvSpPr/>
          <p:nvPr/>
        </p:nvSpPr>
        <p:spPr>
          <a:xfrm>
            <a:off x="5577840" y="1426464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BIEN-ÊTRE</a:t>
            </a:r>
            <a:endParaRPr lang="en-US" sz="600" dirty="0"/>
          </a:p>
        </p:txBody>
      </p:sp>
      <p:sp>
        <p:nvSpPr>
          <p:cNvPr id="29" name="Text 22"/>
          <p:cNvSpPr/>
          <p:nvPr/>
        </p:nvSpPr>
        <p:spPr>
          <a:xfrm>
            <a:off x="5577840" y="1645920"/>
            <a:ext cx="144475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contrat licence, pacte 3 actionnaires, conformité RGPD patients.</a:t>
            </a:r>
            <a:endParaRPr lang="en-US" sz="800" dirty="0"/>
          </a:p>
        </p:txBody>
      </p:sp>
      <p:sp>
        <p:nvSpPr>
          <p:cNvPr id="30" name="Shape 23"/>
          <p:cNvSpPr/>
          <p:nvPr/>
        </p:nvSpPr>
        <p:spPr>
          <a:xfrm>
            <a:off x="7223760" y="914400"/>
            <a:ext cx="1627632" cy="1874520"/>
          </a:xfrm>
          <a:prstGeom prst="rect">
            <a:avLst/>
          </a:prstGeom>
          <a:solidFill>
            <a:srgbClr val="E8E7F5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4"/>
          <p:cNvSpPr/>
          <p:nvPr/>
        </p:nvSpPr>
        <p:spPr>
          <a:xfrm>
            <a:off x="7223760" y="914400"/>
            <a:ext cx="1627632" cy="54864"/>
          </a:xfrm>
          <a:prstGeom prst="rect">
            <a:avLst/>
          </a:prstGeom>
          <a:solidFill>
            <a:srgbClr val="5752B5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0920" y="1042416"/>
            <a:ext cx="329184" cy="329184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7315200" y="1426464"/>
            <a:ext cx="1444752" cy="182880"/>
          </a:xfrm>
          <a:prstGeom prst="rect">
            <a:avLst/>
          </a:prstGeom>
          <a:solidFill>
            <a:srgbClr val="5752B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26"/>
          <p:cNvSpPr/>
          <p:nvPr/>
        </p:nvSpPr>
        <p:spPr>
          <a:xfrm>
            <a:off x="7315200" y="1426464"/>
            <a:ext cx="144475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 / ALIMENTAIRE</a:t>
            </a:r>
            <a:endParaRPr lang="en-US" sz="600" dirty="0"/>
          </a:p>
        </p:txBody>
      </p:sp>
      <p:sp>
        <p:nvSpPr>
          <p:cNvPr id="35" name="Text 27"/>
          <p:cNvSpPr/>
          <p:nvPr/>
        </p:nvSpPr>
        <p:spPr>
          <a:xfrm>
            <a:off x="7315200" y="1645920"/>
            <a:ext cx="1444752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800" noProof="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CGV B2B/B2C, conformité bio, Cohérence de l’écosystème juridique</a:t>
            </a: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800" dirty="0"/>
          </a:p>
        </p:txBody>
      </p:sp>
      <p:sp>
        <p:nvSpPr>
          <p:cNvPr id="36" name="Shape 28"/>
          <p:cNvSpPr/>
          <p:nvPr/>
        </p:nvSpPr>
        <p:spPr>
          <a:xfrm>
            <a:off x="274320" y="2926080"/>
            <a:ext cx="8595360" cy="292608"/>
          </a:xfrm>
          <a:prstGeom prst="rect">
            <a:avLst/>
          </a:prstGeom>
          <a:solidFill>
            <a:srgbClr val="2A24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29"/>
          <p:cNvSpPr/>
          <p:nvPr/>
        </p:nvSpPr>
        <p:spPr>
          <a:xfrm>
            <a:off x="365760" y="2962656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lancement à la cession — on est là à chaque étape.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731520" y="3493008"/>
            <a:ext cx="1353312" cy="36576"/>
          </a:xfrm>
          <a:prstGeom prst="rect">
            <a:avLst/>
          </a:prstGeom>
          <a:solidFill>
            <a:srgbClr val="C5C3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Shape 31"/>
          <p:cNvSpPr/>
          <p:nvPr/>
        </p:nvSpPr>
        <p:spPr>
          <a:xfrm>
            <a:off x="402336" y="3346704"/>
            <a:ext cx="329184" cy="329184"/>
          </a:xfrm>
          <a:prstGeom prst="ellipse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0" name="Text 32"/>
          <p:cNvSpPr/>
          <p:nvPr/>
        </p:nvSpPr>
        <p:spPr>
          <a:xfrm>
            <a:off x="402336" y="33467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J+0</a:t>
            </a:r>
            <a:endParaRPr lang="en-US" sz="700" dirty="0"/>
          </a:p>
        </p:txBody>
      </p:sp>
      <p:sp>
        <p:nvSpPr>
          <p:cNvPr id="41" name="Text 33"/>
          <p:cNvSpPr/>
          <p:nvPr/>
        </p:nvSpPr>
        <p:spPr>
          <a:xfrm>
            <a:off x="274320" y="3712464"/>
            <a:ext cx="1444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A2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</a:t>
            </a:r>
            <a:endParaRPr lang="en-US" sz="950" dirty="0"/>
          </a:p>
        </p:txBody>
      </p:sp>
      <p:sp>
        <p:nvSpPr>
          <p:cNvPr id="42" name="Text 34"/>
          <p:cNvSpPr/>
          <p:nvPr/>
        </p:nvSpPr>
        <p:spPr>
          <a:xfrm>
            <a:off x="274320" y="3968496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· Statuts · Formalités</a:t>
            </a:r>
            <a:endParaRPr lang="en-US" sz="800" dirty="0"/>
          </a:p>
        </p:txBody>
      </p:sp>
      <p:sp>
        <p:nvSpPr>
          <p:cNvPr id="43" name="Shape 35"/>
          <p:cNvSpPr/>
          <p:nvPr/>
        </p:nvSpPr>
        <p:spPr>
          <a:xfrm>
            <a:off x="2450592" y="3493008"/>
            <a:ext cx="1353312" cy="36576"/>
          </a:xfrm>
          <a:prstGeom prst="rect">
            <a:avLst/>
          </a:prstGeom>
          <a:solidFill>
            <a:srgbClr val="C5C3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4" name="Shape 36"/>
          <p:cNvSpPr/>
          <p:nvPr/>
        </p:nvSpPr>
        <p:spPr>
          <a:xfrm>
            <a:off x="2121408" y="3346704"/>
            <a:ext cx="329184" cy="329184"/>
          </a:xfrm>
          <a:prstGeom prst="ellipse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37"/>
          <p:cNvSpPr/>
          <p:nvPr/>
        </p:nvSpPr>
        <p:spPr>
          <a:xfrm>
            <a:off x="2121408" y="33467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M+6</a:t>
            </a:r>
            <a:endParaRPr lang="en-US" sz="700" dirty="0"/>
          </a:p>
        </p:txBody>
      </p:sp>
      <p:sp>
        <p:nvSpPr>
          <p:cNvPr id="46" name="Text 38"/>
          <p:cNvSpPr/>
          <p:nvPr/>
        </p:nvSpPr>
        <p:spPr>
          <a:xfrm>
            <a:off x="1993392" y="3712464"/>
            <a:ext cx="1444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A2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950" dirty="0"/>
          </a:p>
        </p:txBody>
      </p:sp>
      <p:sp>
        <p:nvSpPr>
          <p:cNvPr id="47" name="Text 39"/>
          <p:cNvSpPr/>
          <p:nvPr/>
        </p:nvSpPr>
        <p:spPr>
          <a:xfrm>
            <a:off x="1993392" y="3968496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CGV · RGPD · Contrats</a:t>
            </a:r>
            <a:endParaRPr lang="en-US" sz="800" dirty="0"/>
          </a:p>
        </p:txBody>
      </p:sp>
      <p:sp>
        <p:nvSpPr>
          <p:cNvPr id="48" name="Shape 40"/>
          <p:cNvSpPr/>
          <p:nvPr/>
        </p:nvSpPr>
        <p:spPr>
          <a:xfrm>
            <a:off x="4169664" y="3493008"/>
            <a:ext cx="1353312" cy="36576"/>
          </a:xfrm>
          <a:prstGeom prst="rect">
            <a:avLst/>
          </a:prstGeom>
          <a:solidFill>
            <a:srgbClr val="C5C3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Shape 41"/>
          <p:cNvSpPr/>
          <p:nvPr/>
        </p:nvSpPr>
        <p:spPr>
          <a:xfrm>
            <a:off x="3840480" y="3346704"/>
            <a:ext cx="329184" cy="329184"/>
          </a:xfrm>
          <a:prstGeom prst="ellipse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0" name="Text 42"/>
          <p:cNvSpPr/>
          <p:nvPr/>
        </p:nvSpPr>
        <p:spPr>
          <a:xfrm>
            <a:off x="3840480" y="33467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2</a:t>
            </a:r>
            <a:endParaRPr lang="en-US" sz="700" dirty="0"/>
          </a:p>
        </p:txBody>
      </p:sp>
      <p:sp>
        <p:nvSpPr>
          <p:cNvPr id="51" name="Text 43"/>
          <p:cNvSpPr/>
          <p:nvPr/>
        </p:nvSpPr>
        <p:spPr>
          <a:xfrm>
            <a:off x="3712464" y="3712464"/>
            <a:ext cx="1444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A2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</a:t>
            </a:r>
            <a:endParaRPr lang="en-US" sz="950" dirty="0"/>
          </a:p>
        </p:txBody>
      </p:sp>
      <p:sp>
        <p:nvSpPr>
          <p:cNvPr id="52" name="Text 44"/>
          <p:cNvSpPr/>
          <p:nvPr/>
        </p:nvSpPr>
        <p:spPr>
          <a:xfrm>
            <a:off x="3712464" y="3968496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Associé · Levée de fonds</a:t>
            </a:r>
            <a:endParaRPr lang="en-US" sz="800" dirty="0"/>
          </a:p>
        </p:txBody>
      </p:sp>
      <p:sp>
        <p:nvSpPr>
          <p:cNvPr id="53" name="Shape 45"/>
          <p:cNvSpPr/>
          <p:nvPr/>
        </p:nvSpPr>
        <p:spPr>
          <a:xfrm>
            <a:off x="5888736" y="3493008"/>
            <a:ext cx="1353312" cy="36576"/>
          </a:xfrm>
          <a:prstGeom prst="rect">
            <a:avLst/>
          </a:prstGeom>
          <a:solidFill>
            <a:srgbClr val="C5C3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Shape 46"/>
          <p:cNvSpPr/>
          <p:nvPr/>
        </p:nvSpPr>
        <p:spPr>
          <a:xfrm>
            <a:off x="5559552" y="3346704"/>
            <a:ext cx="329184" cy="329184"/>
          </a:xfrm>
          <a:prstGeom prst="ellipse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Text 47"/>
          <p:cNvSpPr/>
          <p:nvPr/>
        </p:nvSpPr>
        <p:spPr>
          <a:xfrm>
            <a:off x="5559552" y="33467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4</a:t>
            </a:r>
            <a:endParaRPr lang="en-US" sz="700" dirty="0"/>
          </a:p>
        </p:txBody>
      </p:sp>
      <p:sp>
        <p:nvSpPr>
          <p:cNvPr id="56" name="Text 48"/>
          <p:cNvSpPr/>
          <p:nvPr/>
        </p:nvSpPr>
        <p:spPr>
          <a:xfrm>
            <a:off x="5431536" y="3712464"/>
            <a:ext cx="1444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A2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</a:t>
            </a:r>
            <a:endParaRPr lang="en-US" sz="950" dirty="0"/>
          </a:p>
        </p:txBody>
      </p:sp>
      <p:sp>
        <p:nvSpPr>
          <p:cNvPr id="57" name="Text 49"/>
          <p:cNvSpPr/>
          <p:nvPr/>
        </p:nvSpPr>
        <p:spPr>
          <a:xfrm>
            <a:off x="5431536" y="3968496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· Valorisation</a:t>
            </a:r>
            <a:endParaRPr lang="en-US" sz="800" dirty="0"/>
          </a:p>
        </p:txBody>
      </p:sp>
      <p:sp>
        <p:nvSpPr>
          <p:cNvPr id="58" name="Shape 50"/>
          <p:cNvSpPr/>
          <p:nvPr/>
        </p:nvSpPr>
        <p:spPr>
          <a:xfrm>
            <a:off x="7278624" y="3346704"/>
            <a:ext cx="329184" cy="329184"/>
          </a:xfrm>
          <a:prstGeom prst="ellipse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9" name="Text 51"/>
          <p:cNvSpPr/>
          <p:nvPr/>
        </p:nvSpPr>
        <p:spPr>
          <a:xfrm>
            <a:off x="7278624" y="33467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5+</a:t>
            </a:r>
            <a:endParaRPr lang="en-US" sz="700" dirty="0"/>
          </a:p>
        </p:txBody>
      </p:sp>
      <p:sp>
        <p:nvSpPr>
          <p:cNvPr id="60" name="Text 52"/>
          <p:cNvSpPr/>
          <p:nvPr/>
        </p:nvSpPr>
        <p:spPr>
          <a:xfrm>
            <a:off x="7150608" y="3712464"/>
            <a:ext cx="1444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A2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Cession</a:t>
            </a:r>
            <a:endParaRPr lang="en-US" sz="950" dirty="0"/>
          </a:p>
        </p:txBody>
      </p:sp>
      <p:sp>
        <p:nvSpPr>
          <p:cNvPr id="61" name="Text 53"/>
          <p:cNvSpPr/>
          <p:nvPr/>
        </p:nvSpPr>
        <p:spPr>
          <a:xfrm>
            <a:off x="7150608" y="3968496"/>
            <a:ext cx="1444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 · Closing</a:t>
            </a:r>
            <a:endParaRPr lang="en-US" sz="800" dirty="0"/>
          </a:p>
        </p:txBody>
      </p:sp>
      <p:sp>
        <p:nvSpPr>
          <p:cNvPr id="62" name="Shape 54"/>
          <p:cNvSpPr/>
          <p:nvPr/>
        </p:nvSpPr>
        <p:spPr>
          <a:xfrm>
            <a:off x="274320" y="4443984"/>
            <a:ext cx="8595360" cy="438912"/>
          </a:xfrm>
          <a:prstGeom prst="rect">
            <a:avLst/>
          </a:prstGeom>
          <a:solidFill>
            <a:srgbClr val="E8E7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3" name="Shape 55"/>
          <p:cNvSpPr/>
          <p:nvPr/>
        </p:nvSpPr>
        <p:spPr>
          <a:xfrm>
            <a:off x="274320" y="4443984"/>
            <a:ext cx="64008" cy="438912"/>
          </a:xfrm>
          <a:prstGeom prst="rect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4" name="Text 56"/>
          <p:cNvSpPr/>
          <p:nvPr/>
        </p:nvSpPr>
        <p:spPr>
          <a:xfrm>
            <a:off x="411480" y="4480560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2A2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"On ne voulait pas payer un avocat à la création. On en a payé deux au contentieux — pendant 8 mois. La leçon a été chère."  — Fondateur, SAS tech, 3 associés</a:t>
            </a:r>
            <a:endParaRPr lang="en-US" sz="950" dirty="0"/>
          </a:p>
        </p:txBody>
      </p:sp>
      <p:sp>
        <p:nvSpPr>
          <p:cNvPr id="65" name="Shape 57"/>
          <p:cNvSpPr/>
          <p:nvPr/>
        </p:nvSpPr>
        <p:spPr>
          <a:xfrm>
            <a:off x="0" y="4974336"/>
            <a:ext cx="9144000" cy="173736"/>
          </a:xfrm>
          <a:prstGeom prst="rect">
            <a:avLst/>
          </a:prstGeom>
          <a:solidFill>
            <a:srgbClr val="2A24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Text 58"/>
          <p:cNvSpPr/>
          <p:nvPr/>
        </p:nvSpPr>
        <p:spPr>
          <a:xfrm>
            <a:off x="274320" y="4983480"/>
            <a:ext cx="8595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Arturus Avocats  ·  arturus-avocats.fr  ·  Le Tholonet, Aix-en-Provence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2A24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OFFRES — FORFAITS DE LANCEMENT</a:t>
            </a:r>
            <a:endParaRPr lang="en-US" sz="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36576"/>
            <a:ext cx="804672" cy="8046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8404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2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OFFRES DE LANCEMENT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274320" y="84124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fixe + modules ajustables selon ton projet.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943600" y="347472"/>
            <a:ext cx="2926080" cy="438912"/>
          </a:xfrm>
          <a:prstGeom prst="rect">
            <a:avLst/>
          </a:prstGeom>
          <a:solidFill>
            <a:srgbClr val="E8E7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5943600" y="347472"/>
            <a:ext cx="54864" cy="438912"/>
          </a:xfrm>
          <a:prstGeom prst="rect">
            <a:avLst/>
          </a:prstGeom>
          <a:solidFill>
            <a:srgbClr val="5752B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6035040" y="365760"/>
            <a:ext cx="27614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Formalités incluses dans les honoraires.</a:t>
            </a:r>
            <a:endParaRPr lang="en-US" sz="800" dirty="0"/>
          </a:p>
          <a:p>
            <a:pPr marL="0" indent="0">
              <a:buNone/>
            </a:pPr>
            <a:r>
              <a:rPr lang="en-US" sz="8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Débours (greffe, annonce légale, INPI) en sus.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28600" y="1170432"/>
            <a:ext cx="2798064" cy="2999232"/>
          </a:xfrm>
          <a:prstGeom prst="rect">
            <a:avLst/>
          </a:prstGeom>
          <a:solidFill>
            <a:srgbClr val="E8E7F5"/>
          </a:solidFill>
          <a:ln/>
          <a:effectLst>
            <a:outerShdw blurRad="177800" dist="38100" dir="8100000" algn="bl" rotWithShape="0">
              <a:srgbClr val="3B3591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228600" y="1170432"/>
            <a:ext cx="2798064" cy="64008"/>
          </a:xfrm>
          <a:prstGeom prst="rect">
            <a:avLst/>
          </a:prstGeom>
          <a:solidFill>
            <a:srgbClr val="5752B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320040" y="12801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75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20040" y="1682496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FILET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0040" y="202996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— structure uniperso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0040" y="2286000"/>
            <a:ext cx="2542032" cy="27432"/>
          </a:xfrm>
          <a:prstGeom prst="rect">
            <a:avLst/>
          </a:prstGeom>
          <a:solidFill>
            <a:srgbClr val="C5C3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320040" y="2359152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3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 approfondi — vision à 5 ans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20040" y="2670048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3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et justification de la structure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20040" y="2980944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3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Statuts sur mesure + formalités complètes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20040" y="3291840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3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juridique propre à ton secteur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20040" y="3602736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3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1 classe si pertinent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20040" y="3931920"/>
            <a:ext cx="2615184" cy="438912"/>
          </a:xfrm>
          <a:prstGeom prst="rect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320040" y="395020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1 500 € HT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20040" y="4169664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5h - 2 mois max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172968" y="1170432"/>
            <a:ext cx="2798064" cy="2999232"/>
          </a:xfrm>
          <a:prstGeom prst="rect">
            <a:avLst/>
          </a:prstGeom>
          <a:solidFill>
            <a:srgbClr val="3B3591"/>
          </a:solidFill>
          <a:ln/>
          <a:effectLst>
            <a:outerShdw blurRad="177800" dist="38100" dir="8100000" algn="bl" rotWithShape="0">
              <a:srgbClr val="3B3591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22"/>
          <p:cNvSpPr/>
          <p:nvPr/>
        </p:nvSpPr>
        <p:spPr>
          <a:xfrm>
            <a:off x="3172968" y="1170432"/>
            <a:ext cx="2798064" cy="64008"/>
          </a:xfrm>
          <a:prstGeom prst="rect">
            <a:avLst/>
          </a:prstGeom>
          <a:solidFill>
            <a:srgbClr val="2A24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3"/>
          <p:cNvSpPr/>
          <p:nvPr/>
        </p:nvSpPr>
        <p:spPr>
          <a:xfrm>
            <a:off x="4617720" y="1280160"/>
            <a:ext cx="1261872" cy="219456"/>
          </a:xfrm>
          <a:prstGeom prst="rect">
            <a:avLst/>
          </a:prstGeom>
          <a:solidFill>
            <a:srgbClr val="2A2470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Text 24"/>
          <p:cNvSpPr/>
          <p:nvPr/>
        </p:nvSpPr>
        <p:spPr>
          <a:xfrm>
            <a:off x="4636008" y="129844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LE PLUS CHOISI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3264408" y="12801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3264408" y="1682496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L'ARMURE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264408" y="202996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plusieurs — associés &amp; croissance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3264408" y="2286000"/>
            <a:ext cx="2542032" cy="27432"/>
          </a:xfrm>
          <a:prstGeom prst="rect">
            <a:avLst/>
          </a:prstGeom>
          <a:solidFill>
            <a:srgbClr val="5752B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29"/>
          <p:cNvSpPr/>
          <p:nvPr/>
        </p:nvSpPr>
        <p:spPr>
          <a:xfrm>
            <a:off x="3264408" y="2359152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00" dirty="0">
                <a:solidFill>
                  <a:srgbClr val="E8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le Filet +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3264408" y="2670048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00" dirty="0">
                <a:solidFill>
                  <a:srgbClr val="E8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Pacte d'associés complet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3264408" y="2980944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00" dirty="0">
                <a:solidFill>
                  <a:srgbClr val="E8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Statuts adaptés levée de fonds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3264408" y="3291840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00" dirty="0">
                <a:solidFill>
                  <a:srgbClr val="E8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r>
              <a:rPr lang="en-US" sz="900" dirty="0" err="1">
                <a:solidFill>
                  <a:srgbClr val="E8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</a:t>
            </a:r>
            <a:r>
              <a:rPr lang="en-US" sz="900" dirty="0">
                <a:solidFill>
                  <a:srgbClr val="E8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commercial (CGV, </a:t>
            </a:r>
            <a:r>
              <a:rPr lang="en-US" sz="900" dirty="0" err="1">
                <a:solidFill>
                  <a:srgbClr val="E8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</a:t>
            </a:r>
            <a:r>
              <a:rPr lang="en-US" sz="900" dirty="0">
                <a:solidFill>
                  <a:srgbClr val="E8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…)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3264408" y="3602736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00" dirty="0">
                <a:solidFill>
                  <a:srgbClr val="E8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de base 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264408" y="3931920"/>
            <a:ext cx="2615184" cy="438912"/>
          </a:xfrm>
          <a:prstGeom prst="rect">
            <a:avLst/>
          </a:prstGeom>
          <a:solidFill>
            <a:srgbClr val="2A24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5"/>
          <p:cNvSpPr/>
          <p:nvPr/>
        </p:nvSpPr>
        <p:spPr>
          <a:xfrm>
            <a:off x="3264408" y="395020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3 950 € HT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3264408" y="4169664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h - 3 </a:t>
            </a:r>
            <a:r>
              <a:rPr lang="en-US" sz="800" i="1" dirty="0" err="1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</a:t>
            </a:r>
            <a:r>
              <a:rPr lang="en-US" sz="800" i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6117336" y="1170432"/>
            <a:ext cx="2798064" cy="2999232"/>
          </a:xfrm>
          <a:prstGeom prst="rect">
            <a:avLst/>
          </a:prstGeom>
          <a:solidFill>
            <a:srgbClr val="E8E7F5"/>
          </a:solidFill>
          <a:ln/>
          <a:effectLst>
            <a:outerShdw blurRad="177800" dist="38100" dir="8100000" algn="bl" rotWithShape="0">
              <a:srgbClr val="3B3591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1" name="Shape 38"/>
          <p:cNvSpPr/>
          <p:nvPr/>
        </p:nvSpPr>
        <p:spPr>
          <a:xfrm>
            <a:off x="6117336" y="1170432"/>
            <a:ext cx="2798064" cy="64008"/>
          </a:xfrm>
          <a:prstGeom prst="rect">
            <a:avLst/>
          </a:prstGeom>
          <a:solidFill>
            <a:srgbClr val="5752B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39"/>
          <p:cNvSpPr/>
          <p:nvPr/>
        </p:nvSpPr>
        <p:spPr>
          <a:xfrm>
            <a:off x="6208776" y="1280160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752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43" name="Text 40"/>
          <p:cNvSpPr/>
          <p:nvPr/>
        </p:nvSpPr>
        <p:spPr>
          <a:xfrm>
            <a:off x="6208776" y="1682496"/>
            <a:ext cx="2615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2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CHÂTEAU FORT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6208776" y="202996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long terme — 5 mois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6208776" y="2286000"/>
            <a:ext cx="2542032" cy="27432"/>
          </a:xfrm>
          <a:prstGeom prst="rect">
            <a:avLst/>
          </a:prstGeom>
          <a:solidFill>
            <a:srgbClr val="C5C3E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Text 43"/>
          <p:cNvSpPr/>
          <p:nvPr/>
        </p:nvSpPr>
        <p:spPr>
          <a:xfrm>
            <a:off x="6208776" y="2359152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3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l'Armure +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208776" y="2670048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3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Contrats </a:t>
            </a:r>
            <a:r>
              <a:rPr lang="en-US" sz="9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</a:t>
            </a: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(e-commerce, clients, </a:t>
            </a:r>
            <a:r>
              <a:rPr lang="en-US" sz="9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fournisseurs</a:t>
            </a: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franchise)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6208776" y="2980944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3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</a:t>
            </a:r>
            <a:r>
              <a:rPr lang="en-US" sz="9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</a:t>
            </a: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6208776" y="3291840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3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Levée de fonds (</a:t>
            </a:r>
            <a:r>
              <a:rPr lang="en-US" sz="9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Pacte</a:t>
            </a: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term sheet)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6208776" y="3602736"/>
            <a:ext cx="2615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3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juridique 5 mois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6208776" y="3931920"/>
            <a:ext cx="2615184" cy="438912"/>
          </a:xfrm>
          <a:prstGeom prst="rect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2" name="Text 49"/>
          <p:cNvSpPr/>
          <p:nvPr/>
        </p:nvSpPr>
        <p:spPr>
          <a:xfrm>
            <a:off x="6208776" y="395020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6 000 – 10 000 € HT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6208776" y="4169664"/>
            <a:ext cx="2615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21h – 35h - 5 mois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274320" y="4462272"/>
            <a:ext cx="8595360" cy="219456"/>
          </a:xfrm>
          <a:prstGeom prst="rect">
            <a:avLst/>
          </a:prstGeom>
          <a:solidFill>
            <a:srgbClr val="2A24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Text 52"/>
          <p:cNvSpPr/>
          <p:nvPr/>
        </p:nvSpPr>
        <p:spPr>
          <a:xfrm>
            <a:off x="365760" y="448056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50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COMPLÉMENTAIRES — ajustables selon la complexité de ton projet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274320" y="4700016"/>
            <a:ext cx="1627632" cy="274320"/>
          </a:xfrm>
          <a:prstGeom prst="rect">
            <a:avLst/>
          </a:prstGeom>
          <a:solidFill>
            <a:srgbClr val="E8E7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7" name="Shape 54"/>
          <p:cNvSpPr/>
          <p:nvPr/>
        </p:nvSpPr>
        <p:spPr>
          <a:xfrm>
            <a:off x="274320" y="4700016"/>
            <a:ext cx="45720" cy="274320"/>
          </a:xfrm>
          <a:prstGeom prst="rect">
            <a:avLst/>
          </a:prstGeom>
          <a:solidFill>
            <a:srgbClr val="5752B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8" name="Text 55"/>
          <p:cNvSpPr/>
          <p:nvPr/>
        </p:nvSpPr>
        <p:spPr>
          <a:xfrm>
            <a:off x="365760" y="4718304"/>
            <a:ext cx="115214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A2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 admin.</a:t>
            </a:r>
            <a:endParaRPr lang="en-US" sz="750" dirty="0"/>
          </a:p>
        </p:txBody>
      </p:sp>
      <p:sp>
        <p:nvSpPr>
          <p:cNvPr id="59" name="Text 56"/>
          <p:cNvSpPr/>
          <p:nvPr/>
        </p:nvSpPr>
        <p:spPr>
          <a:xfrm>
            <a:off x="365760" y="4846320"/>
            <a:ext cx="1371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B3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+500 → +1 500 €</a:t>
            </a:r>
            <a:endParaRPr lang="en-US" sz="700" dirty="0"/>
          </a:p>
        </p:txBody>
      </p:sp>
      <p:sp>
        <p:nvSpPr>
          <p:cNvPr id="60" name="Shape 57"/>
          <p:cNvSpPr/>
          <p:nvPr/>
        </p:nvSpPr>
        <p:spPr>
          <a:xfrm>
            <a:off x="2011680" y="4700016"/>
            <a:ext cx="1627632" cy="274320"/>
          </a:xfrm>
          <a:prstGeom prst="rect">
            <a:avLst/>
          </a:prstGeom>
          <a:solidFill>
            <a:srgbClr val="E8E7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Shape 58"/>
          <p:cNvSpPr/>
          <p:nvPr/>
        </p:nvSpPr>
        <p:spPr>
          <a:xfrm>
            <a:off x="2011680" y="4700016"/>
            <a:ext cx="45720" cy="274320"/>
          </a:xfrm>
          <a:prstGeom prst="rect">
            <a:avLst/>
          </a:prstGeom>
          <a:solidFill>
            <a:srgbClr val="5752B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2" name="Text 59"/>
          <p:cNvSpPr/>
          <p:nvPr/>
        </p:nvSpPr>
        <p:spPr>
          <a:xfrm>
            <a:off x="2103120" y="4718304"/>
            <a:ext cx="115214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A2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Pacte d'associés seul</a:t>
            </a:r>
            <a:endParaRPr lang="en-US" sz="750" dirty="0"/>
          </a:p>
        </p:txBody>
      </p:sp>
      <p:sp>
        <p:nvSpPr>
          <p:cNvPr id="63" name="Text 60"/>
          <p:cNvSpPr/>
          <p:nvPr/>
        </p:nvSpPr>
        <p:spPr>
          <a:xfrm>
            <a:off x="2103120" y="4846320"/>
            <a:ext cx="1371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B3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+1 000 / +1 500 €</a:t>
            </a:r>
            <a:endParaRPr lang="en-US" sz="700" dirty="0"/>
          </a:p>
        </p:txBody>
      </p:sp>
      <p:sp>
        <p:nvSpPr>
          <p:cNvPr id="64" name="Shape 61"/>
          <p:cNvSpPr/>
          <p:nvPr/>
        </p:nvSpPr>
        <p:spPr>
          <a:xfrm>
            <a:off x="3749040" y="4700016"/>
            <a:ext cx="1627632" cy="274320"/>
          </a:xfrm>
          <a:prstGeom prst="rect">
            <a:avLst/>
          </a:prstGeom>
          <a:solidFill>
            <a:srgbClr val="E8E7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Shape 62"/>
          <p:cNvSpPr/>
          <p:nvPr/>
        </p:nvSpPr>
        <p:spPr>
          <a:xfrm>
            <a:off x="3749040" y="4700016"/>
            <a:ext cx="45720" cy="274320"/>
          </a:xfrm>
          <a:prstGeom prst="rect">
            <a:avLst/>
          </a:prstGeom>
          <a:solidFill>
            <a:srgbClr val="5752B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6" name="Text 63"/>
          <p:cNvSpPr/>
          <p:nvPr/>
        </p:nvSpPr>
        <p:spPr>
          <a:xfrm>
            <a:off x="3840480" y="4718304"/>
            <a:ext cx="115214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A2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complet</a:t>
            </a:r>
            <a:endParaRPr lang="en-US" sz="750" dirty="0"/>
          </a:p>
        </p:txBody>
      </p:sp>
      <p:sp>
        <p:nvSpPr>
          <p:cNvPr id="67" name="Text 64"/>
          <p:cNvSpPr/>
          <p:nvPr/>
        </p:nvSpPr>
        <p:spPr>
          <a:xfrm>
            <a:off x="3840480" y="4846320"/>
            <a:ext cx="1371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B3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devis</a:t>
            </a:r>
            <a:endParaRPr lang="en-US" sz="700" dirty="0"/>
          </a:p>
        </p:txBody>
      </p:sp>
      <p:sp>
        <p:nvSpPr>
          <p:cNvPr id="68" name="Shape 65"/>
          <p:cNvSpPr/>
          <p:nvPr/>
        </p:nvSpPr>
        <p:spPr>
          <a:xfrm>
            <a:off x="5486400" y="4700016"/>
            <a:ext cx="1627632" cy="274320"/>
          </a:xfrm>
          <a:prstGeom prst="rect">
            <a:avLst/>
          </a:prstGeom>
          <a:solidFill>
            <a:srgbClr val="E8E7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9" name="Shape 66"/>
          <p:cNvSpPr/>
          <p:nvPr/>
        </p:nvSpPr>
        <p:spPr>
          <a:xfrm>
            <a:off x="5486400" y="4700016"/>
            <a:ext cx="45720" cy="274320"/>
          </a:xfrm>
          <a:prstGeom prst="rect">
            <a:avLst/>
          </a:prstGeom>
          <a:solidFill>
            <a:srgbClr val="5752B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Text 67"/>
          <p:cNvSpPr/>
          <p:nvPr/>
        </p:nvSpPr>
        <p:spPr>
          <a:xfrm>
            <a:off x="5577840" y="4718304"/>
            <a:ext cx="115214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A2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supplémentaire</a:t>
            </a:r>
            <a:endParaRPr lang="en-US" sz="750" dirty="0"/>
          </a:p>
        </p:txBody>
      </p:sp>
      <p:sp>
        <p:nvSpPr>
          <p:cNvPr id="71" name="Text 68"/>
          <p:cNvSpPr/>
          <p:nvPr/>
        </p:nvSpPr>
        <p:spPr>
          <a:xfrm>
            <a:off x="5577840" y="4846320"/>
            <a:ext cx="1371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B3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devis </a:t>
            </a:r>
            <a:endParaRPr lang="en-US" sz="700" dirty="0"/>
          </a:p>
        </p:txBody>
      </p:sp>
      <p:sp>
        <p:nvSpPr>
          <p:cNvPr id="72" name="Shape 69"/>
          <p:cNvSpPr/>
          <p:nvPr/>
        </p:nvSpPr>
        <p:spPr>
          <a:xfrm>
            <a:off x="7223760" y="4700016"/>
            <a:ext cx="1627632" cy="274320"/>
          </a:xfrm>
          <a:prstGeom prst="rect">
            <a:avLst/>
          </a:prstGeom>
          <a:solidFill>
            <a:srgbClr val="E8E7F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3" name="Shape 70"/>
          <p:cNvSpPr/>
          <p:nvPr/>
        </p:nvSpPr>
        <p:spPr>
          <a:xfrm>
            <a:off x="7223760" y="4700016"/>
            <a:ext cx="45720" cy="274320"/>
          </a:xfrm>
          <a:prstGeom prst="rect">
            <a:avLst/>
          </a:prstGeom>
          <a:solidFill>
            <a:srgbClr val="5752B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4" name="Text 71"/>
          <p:cNvSpPr/>
          <p:nvPr/>
        </p:nvSpPr>
        <p:spPr>
          <a:xfrm>
            <a:off x="7315200" y="4718304"/>
            <a:ext cx="115214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A2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Levée de fonds</a:t>
            </a:r>
            <a:endParaRPr lang="en-US" sz="750" dirty="0"/>
          </a:p>
        </p:txBody>
      </p:sp>
      <p:sp>
        <p:nvSpPr>
          <p:cNvPr id="75" name="Text 72"/>
          <p:cNvSpPr/>
          <p:nvPr/>
        </p:nvSpPr>
        <p:spPr>
          <a:xfrm>
            <a:off x="7315200" y="4846320"/>
            <a:ext cx="1371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3B3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devis</a:t>
            </a:r>
            <a:endParaRPr lang="en-US" sz="700" dirty="0"/>
          </a:p>
        </p:txBody>
      </p:sp>
      <p:sp>
        <p:nvSpPr>
          <p:cNvPr id="76" name="Shape 73"/>
          <p:cNvSpPr/>
          <p:nvPr/>
        </p:nvSpPr>
        <p:spPr>
          <a:xfrm>
            <a:off x="0" y="4974336"/>
            <a:ext cx="9144000" cy="173736"/>
          </a:xfrm>
          <a:prstGeom prst="rect">
            <a:avLst/>
          </a:prstGeom>
          <a:solidFill>
            <a:srgbClr val="2A24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7" name="Text 74"/>
          <p:cNvSpPr/>
          <p:nvPr/>
        </p:nvSpPr>
        <p:spPr>
          <a:xfrm>
            <a:off x="274320" y="4983480"/>
            <a:ext cx="8595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Arturus Avocats  ·  arturus-avocats.fr  ·  Le Tholonet, Aix-en-Provence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2A24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36576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L'ÉTAPE ZÉRO</a:t>
            </a:r>
            <a:endParaRPr lang="en-US" sz="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36576"/>
            <a:ext cx="804672" cy="8046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38404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A2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 encore sûr de ton niveau ?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5029200" cy="3749040"/>
          </a:xfrm>
          <a:prstGeom prst="rect">
            <a:avLst/>
          </a:prstGeom>
          <a:solidFill>
            <a:srgbClr val="E8E7F5"/>
          </a:solidFill>
          <a:ln/>
          <a:effectLst>
            <a:outerShdw blurRad="177800" dist="38100" dir="8100000" algn="bl" rotWithShape="0">
              <a:srgbClr val="3B3591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274320" y="1005840"/>
            <a:ext cx="5029200" cy="64008"/>
          </a:xfrm>
          <a:prstGeom prst="rect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384048" y="1133856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A2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Scan Arturus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115568"/>
            <a:ext cx="1792224" cy="347472"/>
          </a:xfrm>
          <a:prstGeom prst="rect">
            <a:avLst/>
          </a:prstGeom>
          <a:solidFill>
            <a:srgbClr val="3B359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3401568" y="1133856"/>
            <a:ext cx="175564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490 € TTC — forfait fixe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57200" y="1645920"/>
            <a:ext cx="402336" cy="402336"/>
          </a:xfrm>
          <a:prstGeom prst="ellipse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57200" y="16459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969264" y="1682496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2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 (30 min)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69264" y="1956816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 projet, ton secteur, ta vision, tes contraintes.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" y="2542032"/>
            <a:ext cx="402336" cy="402336"/>
          </a:xfrm>
          <a:prstGeom prst="ellipse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457200" y="25420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969264" y="2578608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2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60 min en visio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69264" y="2852928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Caroline analyse ta situation réelle. Sans jargon, sans langue de bois.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7200" y="3438144"/>
            <a:ext cx="402336" cy="402336"/>
          </a:xfrm>
          <a:prstGeom prst="ellipse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457200" y="343814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69264" y="347472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A2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Compte-</a:t>
            </a:r>
            <a:r>
              <a:rPr lang="en-US" sz="1050" b="1" dirty="0" err="1">
                <a:solidFill>
                  <a:srgbClr val="2A2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rendu</a:t>
            </a:r>
            <a:r>
              <a:rPr lang="en-US" sz="1050" b="1" dirty="0">
                <a:solidFill>
                  <a:srgbClr val="2A2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sous 48h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69264" y="3749040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Arturus Score · Risques classés par danger · Plan d'action 12 mois · Recommandation d'offre.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65760" y="4443984"/>
            <a:ext cx="4846320" cy="237744"/>
          </a:xfrm>
          <a:prstGeom prst="rect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384048" y="4462272"/>
            <a:ext cx="48097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Réserver mon Scan  →  calendly.com/admin-arturus-avocats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577840" y="1005840"/>
            <a:ext cx="3291840" cy="2194560"/>
          </a:xfrm>
          <a:prstGeom prst="rect">
            <a:avLst/>
          </a:prstGeom>
          <a:solidFill>
            <a:srgbClr val="3B3591"/>
          </a:solidFill>
          <a:ln/>
          <a:effectLst>
            <a:outerShdw blurRad="177800" dist="38100" dir="8100000" algn="bl" rotWithShape="0">
              <a:srgbClr val="3B3591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3"/>
          <p:cNvSpPr/>
          <p:nvPr/>
        </p:nvSpPr>
        <p:spPr>
          <a:xfrm>
            <a:off x="5577840" y="1005840"/>
            <a:ext cx="3291840" cy="64008"/>
          </a:xfrm>
          <a:prstGeom prst="rect">
            <a:avLst/>
          </a:prstGeom>
          <a:solidFill>
            <a:srgbClr val="2A24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4"/>
          <p:cNvSpPr/>
          <p:nvPr/>
        </p:nvSpPr>
        <p:spPr>
          <a:xfrm>
            <a:off x="5687568" y="1133856"/>
            <a:ext cx="3072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687568" y="1499616"/>
            <a:ext cx="3072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Arturus Score — 3 axes / 10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687568" y="1883664"/>
            <a:ext cx="3072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Risques classés par danger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687568" y="2267712"/>
            <a:ext cx="3072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Plan d'action 12 mois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5687568" y="2651760"/>
            <a:ext cx="3072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Recommandation d'offre adaptée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687568" y="2962656"/>
            <a:ext cx="3072384" cy="182880"/>
          </a:xfrm>
          <a:prstGeom prst="rect">
            <a:avLst/>
          </a:prstGeom>
          <a:solidFill>
            <a:srgbClr val="2A24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5705856" y="2980944"/>
            <a:ext cx="30358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vente — une recommandation logique.</a:t>
            </a:r>
            <a:endParaRPr lang="en-US" sz="850" dirty="0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9482" y="3328250"/>
            <a:ext cx="1268315" cy="1326212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7223760" y="3255264"/>
            <a:ext cx="1645920" cy="1481328"/>
          </a:xfrm>
          <a:prstGeom prst="rect">
            <a:avLst/>
          </a:prstGeom>
          <a:solidFill>
            <a:srgbClr val="2A24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2"/>
          <p:cNvSpPr/>
          <p:nvPr/>
        </p:nvSpPr>
        <p:spPr>
          <a:xfrm>
            <a:off x="7315200" y="3364992"/>
            <a:ext cx="1444752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"Sans jargon, sans langue de bois. On te dit exactement où tu es vulnérable."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0" y="4974336"/>
            <a:ext cx="9144000" cy="173736"/>
          </a:xfrm>
          <a:prstGeom prst="rect">
            <a:avLst/>
          </a:prstGeom>
          <a:solidFill>
            <a:srgbClr val="2A24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4"/>
          <p:cNvSpPr/>
          <p:nvPr/>
        </p:nvSpPr>
        <p:spPr>
          <a:xfrm>
            <a:off x="274320" y="4983480"/>
            <a:ext cx="85953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Arturus Avocats  ·  arturus-avocats.fr  ·  Le Tholonet, Aix-en-Provence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A247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01168"/>
            <a:ext cx="1005840" cy="1005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1325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Passons à l'action</a:t>
            </a:r>
            <a:endParaRPr lang="en-US" sz="3200" dirty="0"/>
          </a:p>
        </p:txBody>
      </p:sp>
      <p:sp>
        <p:nvSpPr>
          <p:cNvPr id="6" name="Text 2"/>
          <p:cNvSpPr/>
          <p:nvPr/>
        </p:nvSpPr>
        <p:spPr>
          <a:xfrm>
            <a:off x="457200" y="20299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Tu construis quelque chose. Autant le faire sur des fondations qui tiennent. »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2743200" y="2468880"/>
            <a:ext cx="3657600" cy="36576"/>
          </a:xfrm>
          <a:prstGeom prst="rect">
            <a:avLst/>
          </a:prstGeom>
          <a:solidFill>
            <a:srgbClr val="5752B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4"/>
          <p:cNvSpPr/>
          <p:nvPr/>
        </p:nvSpPr>
        <p:spPr>
          <a:xfrm>
            <a:off x="548640" y="2596896"/>
            <a:ext cx="384048" cy="384048"/>
          </a:xfrm>
          <a:prstGeom prst="ellipse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5"/>
          <p:cNvSpPr/>
          <p:nvPr/>
        </p:nvSpPr>
        <p:spPr>
          <a:xfrm>
            <a:off x="548640" y="2596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024128" y="2633472"/>
            <a:ext cx="2267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Remplis le formulaire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1024128" y="2889504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min. Ton projet, ton secteur, ta question.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401568" y="2596896"/>
            <a:ext cx="384048" cy="384048"/>
          </a:xfrm>
          <a:prstGeom prst="ellipse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/>
          <p:nvPr/>
        </p:nvSpPr>
        <p:spPr>
          <a:xfrm>
            <a:off x="3401568" y="2596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877056" y="2633472"/>
            <a:ext cx="2267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te répond sous 24h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877056" y="2889504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analyse ta situation et on te propose l'offre adaptée.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254496" y="2596896"/>
            <a:ext cx="384048" cy="384048"/>
          </a:xfrm>
          <a:prstGeom prst="ellipse">
            <a:avLst/>
          </a:prstGeom>
          <a:solidFill>
            <a:srgbClr val="3B359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Text 13"/>
          <p:cNvSpPr/>
          <p:nvPr/>
        </p:nvSpPr>
        <p:spPr>
          <a:xfrm>
            <a:off x="6254496" y="2596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729984" y="2633472"/>
            <a:ext cx="22677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Démarrage sous 5 jours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729984" y="2889504"/>
            <a:ext cx="2267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signature de la lettre de mission.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1645920" y="3310128"/>
            <a:ext cx="5852160" cy="1389888"/>
          </a:xfrm>
          <a:prstGeom prst="rect">
            <a:avLst/>
          </a:prstGeom>
          <a:solidFill>
            <a:srgbClr val="3B3591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7"/>
          <p:cNvSpPr/>
          <p:nvPr/>
        </p:nvSpPr>
        <p:spPr>
          <a:xfrm>
            <a:off x="1645920" y="3310128"/>
            <a:ext cx="5852160" cy="54864"/>
          </a:xfrm>
          <a:prstGeom prst="rect">
            <a:avLst/>
          </a:prstGeom>
          <a:solidFill>
            <a:srgbClr val="5752B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8"/>
          <p:cNvSpPr/>
          <p:nvPr/>
        </p:nvSpPr>
        <p:spPr>
          <a:xfrm>
            <a:off x="1737360" y="3419856"/>
            <a:ext cx="5669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Accéder au formulaire</a:t>
            </a:r>
            <a:endParaRPr lang="en-US" sz="1500" dirty="0"/>
          </a:p>
        </p:txBody>
      </p:sp>
      <p:sp>
        <p:nvSpPr>
          <p:cNvPr id="23" name="Text 19">
            <a:hlinkClick r:id="rId5"/>
          </p:cNvPr>
          <p:cNvSpPr/>
          <p:nvPr/>
        </p:nvSpPr>
        <p:spPr>
          <a:xfrm>
            <a:off x="1737360" y="3785616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u="sng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soft-tuck-23b.notion.site/3180c797761f80d58c32daa336694b74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1737360" y="4078224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5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arturus-avocats.fr  ·  Le Tholonet, Aix-en-Provence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457200" y="475488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C5C3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construis quelque chose. Autant le faire sur des fondations qui tiennent.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1654</Words>
  <Application>Microsoft Office PowerPoint</Application>
  <PresentationFormat>Affichage à l'écran (16:9)</PresentationFormat>
  <Paragraphs>219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Arturus — Lancement v3</dc:title>
  <dc:subject>PptxGenJS Presentation</dc:subject>
  <dc:creator>PptxGenJS</dc:creator>
  <cp:lastModifiedBy>Arturus Avocats</cp:lastModifiedBy>
  <cp:revision>2</cp:revision>
  <dcterms:created xsi:type="dcterms:W3CDTF">2026-05-03T14:56:52Z</dcterms:created>
  <dcterms:modified xsi:type="dcterms:W3CDTF">2026-05-03T19:43:50Z</dcterms:modified>
</cp:coreProperties>
</file>